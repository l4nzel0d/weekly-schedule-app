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3" r:id="rId4"/>
    <p:sldId id="264" r:id="rId5"/>
    <p:sldId id="258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61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0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242753" y="1301496"/>
            <a:ext cx="9706495" cy="190195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945388" indent="-927100" algn="ctr">
              <a:lnSpc>
                <a:spcPts val="1752"/>
              </a:lnSpc>
              <a:spcBef>
                <a:spcPts val="420"/>
              </a:spcBef>
              <a:spcAft>
                <a:spcPts val="420"/>
              </a:spcAft>
            </a:pPr>
            <a:r>
              <a:rPr lang="ru" sz="1400" b="1" dirty="0">
                <a:latin typeface="Times New Roman"/>
              </a:rPr>
              <a:t>Федеральное государственное бюджетное образовательное учреждение высшего образования </a:t>
            </a:r>
            <a:endParaRPr lang="en-US" sz="1400" b="1" dirty="0">
              <a:latin typeface="Times New Roman"/>
            </a:endParaRPr>
          </a:p>
          <a:p>
            <a:pPr marL="945388" indent="-927100" algn="ctr">
              <a:lnSpc>
                <a:spcPts val="1752"/>
              </a:lnSpc>
              <a:spcBef>
                <a:spcPts val="420"/>
              </a:spcBef>
              <a:spcAft>
                <a:spcPts val="420"/>
              </a:spcAft>
            </a:pPr>
            <a:r>
              <a:rPr lang="ru" sz="1400" b="1" dirty="0">
                <a:latin typeface="Times New Roman"/>
              </a:rPr>
              <a:t>«МИРЭА - Российский технологический университет»</a:t>
            </a:r>
            <a:endParaRPr lang="en-US" sz="1400" b="1" dirty="0">
              <a:latin typeface="Times New Roman"/>
            </a:endParaRPr>
          </a:p>
          <a:p>
            <a:pPr marL="945388" indent="-927100" algn="ctr">
              <a:lnSpc>
                <a:spcPts val="1752"/>
              </a:lnSpc>
              <a:spcBef>
                <a:spcPts val="420"/>
              </a:spcBef>
              <a:spcAft>
                <a:spcPts val="420"/>
              </a:spcAft>
            </a:pPr>
            <a:r>
              <a:rPr lang="ru" sz="1700" b="1" dirty="0">
                <a:latin typeface="Times New Roman"/>
              </a:rPr>
              <a:t>РТУ МИРЭА</a:t>
            </a:r>
            <a:endParaRPr lang="en-US" sz="1700" b="1" dirty="0">
              <a:latin typeface="Times New Roman"/>
            </a:endParaRPr>
          </a:p>
          <a:p>
            <a:pPr marL="945388" indent="-927100" algn="ctr">
              <a:lnSpc>
                <a:spcPts val="1752"/>
              </a:lnSpc>
              <a:spcBef>
                <a:spcPts val="420"/>
              </a:spcBef>
              <a:spcAft>
                <a:spcPts val="420"/>
              </a:spcAft>
            </a:pPr>
            <a:r>
              <a:rPr lang="ru" sz="1400" b="1" dirty="0">
                <a:latin typeface="Times New Roman"/>
              </a:rPr>
              <a:t>Институт информационных технологий</a:t>
            </a:r>
            <a:endParaRPr lang="en-US" sz="1400" b="1" dirty="0">
              <a:latin typeface="Times New Roman"/>
            </a:endParaRPr>
          </a:p>
          <a:p>
            <a:pPr marL="945388" indent="-927100" algn="ctr">
              <a:lnSpc>
                <a:spcPts val="1752"/>
              </a:lnSpc>
              <a:spcBef>
                <a:spcPts val="420"/>
              </a:spcBef>
              <a:spcAft>
                <a:spcPts val="420"/>
              </a:spcAft>
            </a:pPr>
            <a:r>
              <a:rPr lang="ru" sz="1400" b="1" dirty="0">
                <a:latin typeface="Times New Roman"/>
              </a:rPr>
              <a:t>Кафедра инструментального и прикладного программного обеспечения</a:t>
            </a:r>
            <a:endParaRPr lang="en-US" sz="1400" b="1" dirty="0">
              <a:latin typeface="Times New Roman"/>
            </a:endParaRPr>
          </a:p>
          <a:p>
            <a:pPr marL="945388" indent="-927100" algn="ctr">
              <a:lnSpc>
                <a:spcPts val="1752"/>
              </a:lnSpc>
              <a:spcBef>
                <a:spcPts val="420"/>
              </a:spcBef>
              <a:spcAft>
                <a:spcPts val="420"/>
              </a:spcAft>
            </a:pPr>
            <a:r>
              <a:rPr lang="ru" sz="1400" b="1" dirty="0">
                <a:latin typeface="Times New Roman"/>
              </a:rPr>
              <a:t>Дисциплина «</a:t>
            </a:r>
            <a:r>
              <a:rPr lang="ru-RU" sz="1400" b="1" dirty="0">
                <a:latin typeface="Times New Roman"/>
              </a:rPr>
              <a:t>Проектирование и разработка серверных частей интернет</a:t>
            </a:r>
            <a:r>
              <a:rPr lang="en-US" sz="1400" b="1" dirty="0">
                <a:latin typeface="Times New Roman"/>
              </a:rPr>
              <a:t>-</a:t>
            </a:r>
            <a:r>
              <a:rPr lang="ru-RU" sz="1400" b="1" dirty="0">
                <a:latin typeface="Times New Roman"/>
              </a:rPr>
              <a:t>ресурсов</a:t>
            </a:r>
            <a:r>
              <a:rPr lang="ru" sz="1400" b="1" dirty="0">
                <a:latin typeface="Times New Roman"/>
              </a:rPr>
              <a:t>»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228" y="179832"/>
            <a:ext cx="923544" cy="102108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59079" y="5132832"/>
            <a:ext cx="5701145" cy="84734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lnSpc>
                <a:spcPts val="2376"/>
              </a:lnSpc>
              <a:spcBef>
                <a:spcPts val="2520"/>
              </a:spcBef>
            </a:pPr>
            <a:r>
              <a:rPr lang="ru" sz="1800" dirty="0">
                <a:latin typeface="Times New Roman"/>
              </a:rPr>
              <a:t>Студент: Васильев Б.А.</a:t>
            </a:r>
          </a:p>
          <a:p>
            <a:pPr indent="0">
              <a:lnSpc>
                <a:spcPts val="2376"/>
              </a:lnSpc>
            </a:pPr>
            <a:r>
              <a:rPr lang="ru" sz="1800" dirty="0">
                <a:latin typeface="Times New Roman"/>
              </a:rPr>
              <a:t>Группа: ИКБО-</a:t>
            </a:r>
            <a:r>
              <a:rPr lang="ru" dirty="0">
                <a:latin typeface="Times New Roman"/>
              </a:rPr>
              <a:t>20</a:t>
            </a:r>
            <a:r>
              <a:rPr lang="ru" sz="1800" dirty="0">
                <a:latin typeface="Times New Roman"/>
              </a:rPr>
              <a:t>-23</a:t>
            </a:r>
          </a:p>
          <a:p>
            <a:pPr indent="0">
              <a:lnSpc>
                <a:spcPts val="2376"/>
              </a:lnSpc>
            </a:pPr>
            <a:r>
              <a:rPr lang="ru" sz="1800" dirty="0">
                <a:latin typeface="Times New Roman"/>
              </a:rPr>
              <a:t>Руководитель: старший преподаватель Р</a:t>
            </a:r>
            <a:r>
              <a:rPr lang="ru-RU" sz="1800" dirty="0" err="1">
                <a:latin typeface="Times New Roman"/>
              </a:rPr>
              <a:t>оманченко</a:t>
            </a:r>
            <a:r>
              <a:rPr lang="ru" sz="1800" dirty="0">
                <a:latin typeface="Times New Roman"/>
              </a:rPr>
              <a:t> А.Е.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D81CF8C-45A6-49CF-998B-2A3EFD1CCF17}"/>
              </a:ext>
            </a:extLst>
          </p:cNvPr>
          <p:cNvSpPr/>
          <p:nvPr/>
        </p:nvSpPr>
        <p:spPr>
          <a:xfrm>
            <a:off x="5455919" y="6390951"/>
            <a:ext cx="1280160" cy="19507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 algn="ctr">
              <a:spcAft>
                <a:spcPts val="840"/>
              </a:spcAft>
            </a:pPr>
            <a:r>
              <a:rPr lang="ru" sz="1400" dirty="0">
                <a:latin typeface="Times New Roman"/>
              </a:rPr>
              <a:t>Москва 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C86CCC-14AD-4C1A-A123-11A3582EAC48}"/>
              </a:ext>
            </a:extLst>
          </p:cNvPr>
          <p:cNvSpPr txBox="1"/>
          <p:nvPr/>
        </p:nvSpPr>
        <p:spPr>
          <a:xfrm>
            <a:off x="2640246" y="3445904"/>
            <a:ext cx="69115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КУРСОВАЯ РАБОТА</a:t>
            </a:r>
          </a:p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Серверная часть веб-приложения «Расписание»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6056" y="39624"/>
            <a:ext cx="868680" cy="98755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1103864" y="5919216"/>
            <a:ext cx="164592" cy="23164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/>
            <a:r>
              <a:rPr lang="ru" sz="2200" b="1" dirty="0">
                <a:latin typeface="Times New Roman"/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ED6FD0-D796-4E8D-A02B-BDC2F66F904E}"/>
              </a:ext>
            </a:extLst>
          </p:cNvPr>
          <p:cNvSpPr txBox="1"/>
          <p:nvPr/>
        </p:nvSpPr>
        <p:spPr>
          <a:xfrm>
            <a:off x="781396" y="1246909"/>
            <a:ext cx="100750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и разработка серверной части веб-приложения «Расписание»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08087B-884B-4F40-AA93-64BD5B34F11E}"/>
              </a:ext>
            </a:extLst>
          </p:cNvPr>
          <p:cNvSpPr txBox="1"/>
          <p:nvPr/>
        </p:nvSpPr>
        <p:spPr>
          <a:xfrm>
            <a:off x="781396" y="2305396"/>
            <a:ext cx="9767455" cy="3505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предметной области разрабатываемого веб-приложения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Обосновать выбор технологий разработки веб-приложения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архитектуру веб-приложения на основе выбранного паттерна проектирования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слой серверной логики веб-приложения с применением выбранной технологии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слой логики базы данных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слой клиентского представления веб-приложения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презентацию по выполненной курсовой работе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6056" y="39624"/>
            <a:ext cx="868680" cy="98755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1097768" y="5922264"/>
            <a:ext cx="179832" cy="22860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ru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EA746-DB31-409B-A749-8F88C0501185}"/>
              </a:ext>
            </a:extLst>
          </p:cNvPr>
          <p:cNvSpPr txBox="1"/>
          <p:nvPr/>
        </p:nvSpPr>
        <p:spPr>
          <a:xfrm>
            <a:off x="3617701" y="565511"/>
            <a:ext cx="4740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latin typeface="Times New Roman"/>
              </a:rPr>
              <a:t>Анализ существующих аналогов</a:t>
            </a:r>
            <a:endParaRPr lang="ru" sz="2400" b="1" dirty="0">
              <a:latin typeface="Times New Roman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C7B604C-9A38-4BD5-B27C-340A066619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0776" y="1388515"/>
            <a:ext cx="4145792" cy="214525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1D42DF1-5E23-48DB-9D1A-D48C6AF14902}"/>
              </a:ext>
            </a:extLst>
          </p:cNvPr>
          <p:cNvSpPr txBox="1"/>
          <p:nvPr/>
        </p:nvSpPr>
        <p:spPr>
          <a:xfrm>
            <a:off x="668668" y="3596209"/>
            <a:ext cx="40100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1 – 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Скриншот интерфейса сервиса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Visme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D1EA40E-445C-4487-A8AB-44FDE8B675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70897" y="1388515"/>
            <a:ext cx="3990669" cy="21452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7913AB9-81CE-443A-A2F0-5D16318E2043}"/>
              </a:ext>
            </a:extLst>
          </p:cNvPr>
          <p:cNvSpPr txBox="1"/>
          <p:nvPr/>
        </p:nvSpPr>
        <p:spPr>
          <a:xfrm>
            <a:off x="6404514" y="3596209"/>
            <a:ext cx="41234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Скриншот интерфейса сервиса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Planzeo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3F34E86-2594-455F-812B-66E9E2E173C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84562" y="4147234"/>
            <a:ext cx="4012070" cy="214525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AD9B6BF-E606-4BE8-842C-195BB64C8C40}"/>
              </a:ext>
            </a:extLst>
          </p:cNvPr>
          <p:cNvSpPr txBox="1"/>
          <p:nvPr/>
        </p:nvSpPr>
        <p:spPr>
          <a:xfrm>
            <a:off x="3658534" y="6354928"/>
            <a:ext cx="40641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Скриншот интерфейса сервиса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Gensio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780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6056" y="39624"/>
            <a:ext cx="868680" cy="98755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1097768" y="5922264"/>
            <a:ext cx="179832" cy="22860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ru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EA746-DB31-409B-A749-8F88C0501185}"/>
              </a:ext>
            </a:extLst>
          </p:cNvPr>
          <p:cNvSpPr txBox="1"/>
          <p:nvPr/>
        </p:nvSpPr>
        <p:spPr>
          <a:xfrm>
            <a:off x="3081373" y="565511"/>
            <a:ext cx="5813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latin typeface="Times New Roman"/>
              </a:rPr>
              <a:t>Определение требований к приложению</a:t>
            </a:r>
            <a:endParaRPr lang="ru" sz="2400" b="1" dirty="0">
              <a:latin typeface="Times New Roman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C7B604C-9A38-4BD5-B27C-340A066619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72321" y="1123599"/>
            <a:ext cx="5103257" cy="479866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1D42DF1-5E23-48DB-9D1A-D48C6AF14902}"/>
              </a:ext>
            </a:extLst>
          </p:cNvPr>
          <p:cNvSpPr txBox="1"/>
          <p:nvPr/>
        </p:nvSpPr>
        <p:spPr>
          <a:xfrm>
            <a:off x="3231610" y="6035558"/>
            <a:ext cx="53846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UML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-диаграмма вариантов использования приложения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292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6056" y="39624"/>
            <a:ext cx="868680" cy="987552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319783" y="1321725"/>
            <a:ext cx="2196501" cy="459749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lnSpc>
                <a:spcPts val="4056"/>
              </a:lnSpc>
            </a:pPr>
            <a:r>
              <a:rPr lang="en-US" sz="2000" dirty="0">
                <a:latin typeface="Times New Roman"/>
              </a:rPr>
              <a:t>HTML5</a:t>
            </a:r>
          </a:p>
          <a:p>
            <a:pPr indent="0">
              <a:lnSpc>
                <a:spcPts val="4056"/>
              </a:lnSpc>
            </a:pPr>
            <a:r>
              <a:rPr lang="en-US" sz="2000" dirty="0">
                <a:latin typeface="Times New Roman"/>
              </a:rPr>
              <a:t>CSS3</a:t>
            </a:r>
          </a:p>
          <a:p>
            <a:pPr indent="0">
              <a:lnSpc>
                <a:spcPts val="4056"/>
              </a:lnSpc>
            </a:pPr>
            <a:r>
              <a:rPr lang="en-US" sz="2000" dirty="0">
                <a:latin typeface="Times New Roman"/>
              </a:rPr>
              <a:t>JavaScript</a:t>
            </a:r>
          </a:p>
          <a:p>
            <a:pPr indent="0">
              <a:lnSpc>
                <a:spcPts val="4056"/>
              </a:lnSpc>
            </a:pPr>
            <a:r>
              <a:rPr lang="en-US" sz="2000" dirty="0">
                <a:latin typeface="Times New Roman"/>
              </a:rPr>
              <a:t>PHP</a:t>
            </a:r>
          </a:p>
          <a:p>
            <a:pPr indent="0">
              <a:lnSpc>
                <a:spcPts val="4056"/>
              </a:lnSpc>
            </a:pPr>
            <a:r>
              <a:rPr lang="en-US" sz="2000" dirty="0">
                <a:latin typeface="Times New Roman"/>
              </a:rPr>
              <a:t>Laravel</a:t>
            </a:r>
            <a:endParaRPr lang="ru-RU" sz="2000" dirty="0">
              <a:latin typeface="Times New Roman"/>
            </a:endParaRPr>
          </a:p>
          <a:p>
            <a:pPr indent="0">
              <a:lnSpc>
                <a:spcPts val="4056"/>
              </a:lnSpc>
            </a:pPr>
            <a:r>
              <a:rPr lang="en-US" sz="2000" dirty="0" err="1">
                <a:latin typeface="Times New Roman"/>
              </a:rPr>
              <a:t>PostgrSQL</a:t>
            </a:r>
            <a:endParaRPr lang="en-US" sz="2000" dirty="0">
              <a:latin typeface="Times New Roman"/>
            </a:endParaRPr>
          </a:p>
          <a:p>
            <a:pPr indent="0">
              <a:lnSpc>
                <a:spcPts val="4056"/>
              </a:lnSpc>
            </a:pPr>
            <a:r>
              <a:rPr lang="en-US" sz="2000" dirty="0">
                <a:latin typeface="Times New Roman"/>
              </a:rPr>
              <a:t>Docker</a:t>
            </a:r>
          </a:p>
          <a:p>
            <a:pPr indent="0">
              <a:lnSpc>
                <a:spcPts val="4056"/>
              </a:lnSpc>
            </a:pPr>
            <a:r>
              <a:rPr lang="en-US" sz="2000" dirty="0">
                <a:latin typeface="Times New Roman"/>
              </a:rPr>
              <a:t>Visual Studio Code</a:t>
            </a:r>
          </a:p>
          <a:p>
            <a:pPr indent="0">
              <a:lnSpc>
                <a:spcPts val="4056"/>
              </a:lnSpc>
            </a:pPr>
            <a:endParaRPr lang="en-US" sz="2000" dirty="0">
              <a:latin typeface="Times New Roman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1103864" y="5919216"/>
            <a:ext cx="164592" cy="23469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/>
            <a:r>
              <a:rPr lang="en-US" sz="2200" b="1" dirty="0">
                <a:latin typeface="Times New Roman"/>
              </a:rPr>
              <a:t>5</a:t>
            </a:r>
            <a:endParaRPr lang="ru" sz="2200" b="1" dirty="0"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B3437C-A858-4055-9EEC-51B37B74304B}"/>
              </a:ext>
            </a:extLst>
          </p:cNvPr>
          <p:cNvSpPr txBox="1"/>
          <p:nvPr/>
        </p:nvSpPr>
        <p:spPr>
          <a:xfrm>
            <a:off x="4253104" y="565511"/>
            <a:ext cx="3469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latin typeface="Times New Roman"/>
              </a:rPr>
              <a:t>Технологии разработки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6056" y="39624"/>
            <a:ext cx="868680" cy="98755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1103864" y="5919216"/>
            <a:ext cx="164592" cy="23469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/>
            <a:r>
              <a:rPr lang="en-US" sz="2200" b="1" dirty="0">
                <a:latin typeface="Times New Roman"/>
              </a:rPr>
              <a:t>6</a:t>
            </a:r>
            <a:endParaRPr lang="ru" sz="2200" b="1" dirty="0"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B3437C-A858-4055-9EEC-51B37B74304B}"/>
              </a:ext>
            </a:extLst>
          </p:cNvPr>
          <p:cNvSpPr txBox="1"/>
          <p:nvPr/>
        </p:nvSpPr>
        <p:spPr>
          <a:xfrm>
            <a:off x="3826237" y="565511"/>
            <a:ext cx="4323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latin typeface="Times New Roman"/>
              </a:rPr>
              <a:t>Проектирование приложения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1719BFF-6D67-4FB6-8FF3-CE73D290F1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68044" y="2313629"/>
            <a:ext cx="5742820" cy="22400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8306E3-66C6-47FA-8FE7-A05F19D35A19}"/>
              </a:ext>
            </a:extLst>
          </p:cNvPr>
          <p:cNvSpPr txBox="1"/>
          <p:nvPr/>
        </p:nvSpPr>
        <p:spPr>
          <a:xfrm>
            <a:off x="6959897" y="4528920"/>
            <a:ext cx="4159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6 – 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Схема паттерна проектирования 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MVC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D98652F-C1F7-4009-A470-DF3B7E66E5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7606" y="2067694"/>
            <a:ext cx="5048113" cy="248600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0FEC8D6-D087-456C-80AC-C328DEFB0F00}"/>
              </a:ext>
            </a:extLst>
          </p:cNvPr>
          <p:cNvSpPr txBox="1"/>
          <p:nvPr/>
        </p:nvSpPr>
        <p:spPr>
          <a:xfrm>
            <a:off x="497606" y="4553702"/>
            <a:ext cx="5048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5 – 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Схема трёхзвенной клиент-серверной архитектуры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715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6056" y="39624"/>
            <a:ext cx="868680" cy="98755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1103864" y="5919216"/>
            <a:ext cx="164592" cy="23469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/>
            <a:r>
              <a:rPr lang="ru-RU" sz="2200" b="1" dirty="0">
                <a:latin typeface="Times New Roman"/>
              </a:rPr>
              <a:t>7</a:t>
            </a:r>
            <a:endParaRPr lang="ru" sz="2200" b="1" dirty="0"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B3437C-A858-4055-9EEC-51B37B74304B}"/>
              </a:ext>
            </a:extLst>
          </p:cNvPr>
          <p:cNvSpPr txBox="1"/>
          <p:nvPr/>
        </p:nvSpPr>
        <p:spPr>
          <a:xfrm>
            <a:off x="3826241" y="565511"/>
            <a:ext cx="4323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latin typeface="Times New Roman"/>
              </a:rPr>
              <a:t>Проектирование приложения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1719BFF-6D67-4FB6-8FF3-CE73D290F1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94841" y="1822820"/>
            <a:ext cx="4085630" cy="35824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8306E3-66C6-47FA-8FE7-A05F19D35A19}"/>
              </a:ext>
            </a:extLst>
          </p:cNvPr>
          <p:cNvSpPr txBox="1"/>
          <p:nvPr/>
        </p:nvSpPr>
        <p:spPr>
          <a:xfrm>
            <a:off x="1158099" y="5380465"/>
            <a:ext cx="4159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6 – 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ER-диаграмма базы данных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7CFA07A-DCF0-489B-9390-45099DBB60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93562" y="2120644"/>
            <a:ext cx="4085630" cy="29372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2DCBD9-B371-46B5-83C1-59957BEBB31A}"/>
              </a:ext>
            </a:extLst>
          </p:cNvPr>
          <p:cNvSpPr txBox="1"/>
          <p:nvPr/>
        </p:nvSpPr>
        <p:spPr>
          <a:xfrm>
            <a:off x="6156820" y="5355682"/>
            <a:ext cx="4159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7 – 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Схема навигации между страницами веб-приложения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70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6056" y="39624"/>
            <a:ext cx="868680" cy="98755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1103864" y="5919216"/>
            <a:ext cx="164592" cy="23469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/>
            <a:r>
              <a:rPr lang="en-US" sz="2200" b="1" dirty="0">
                <a:latin typeface="Times New Roman"/>
              </a:rPr>
              <a:t>8</a:t>
            </a:r>
            <a:endParaRPr lang="ru" sz="2200" b="1" dirty="0"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B3437C-A858-4055-9EEC-51B37B74304B}"/>
              </a:ext>
            </a:extLst>
          </p:cNvPr>
          <p:cNvSpPr txBox="1"/>
          <p:nvPr/>
        </p:nvSpPr>
        <p:spPr>
          <a:xfrm>
            <a:off x="3380099" y="565511"/>
            <a:ext cx="52157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latin typeface="Times New Roman"/>
              </a:rPr>
              <a:t>Реализация слоя данных</a:t>
            </a:r>
            <a:r>
              <a:rPr lang="en-US" sz="2400" b="1" dirty="0">
                <a:latin typeface="Times New Roman"/>
              </a:rPr>
              <a:t>: </a:t>
            </a:r>
            <a:r>
              <a:rPr lang="ru-RU" sz="2400" dirty="0">
                <a:latin typeface="Times New Roman"/>
              </a:rPr>
              <a:t>миграции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1719BFF-6D67-4FB6-8FF3-CE73D290F1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9698" y="3589250"/>
            <a:ext cx="4085630" cy="17465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8306E3-66C6-47FA-8FE7-A05F19D35A19}"/>
              </a:ext>
            </a:extLst>
          </p:cNvPr>
          <p:cNvSpPr txBox="1"/>
          <p:nvPr/>
        </p:nvSpPr>
        <p:spPr>
          <a:xfrm>
            <a:off x="542956" y="5434578"/>
            <a:ext cx="4159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Созданные миграции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7CFA07A-DCF0-489B-9390-45099DBB60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23728" y="1765788"/>
            <a:ext cx="6281334" cy="36146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2DCBD9-B371-46B5-83C1-59957BEBB31A}"/>
              </a:ext>
            </a:extLst>
          </p:cNvPr>
          <p:cNvSpPr txBox="1"/>
          <p:nvPr/>
        </p:nvSpPr>
        <p:spPr>
          <a:xfrm>
            <a:off x="5192031" y="5434578"/>
            <a:ext cx="6144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9 – 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Фрагмент миграции по созданию таблицы для сущности «Тег»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845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6056" y="39624"/>
            <a:ext cx="868680" cy="98755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1103864" y="5919216"/>
            <a:ext cx="164592" cy="23469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/>
            <a:r>
              <a:rPr lang="ru-RU" sz="2200" b="1" dirty="0">
                <a:latin typeface="Times New Roman"/>
              </a:rPr>
              <a:t>9</a:t>
            </a:r>
            <a:endParaRPr lang="ru" sz="2200" b="1" dirty="0"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B3437C-A858-4055-9EEC-51B37B74304B}"/>
              </a:ext>
            </a:extLst>
          </p:cNvPr>
          <p:cNvSpPr txBox="1"/>
          <p:nvPr/>
        </p:nvSpPr>
        <p:spPr>
          <a:xfrm>
            <a:off x="3576500" y="565511"/>
            <a:ext cx="4822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latin typeface="Times New Roman"/>
              </a:rPr>
              <a:t>Реализация слоя данных</a:t>
            </a:r>
            <a:r>
              <a:rPr lang="en-US" sz="2400" b="1" dirty="0">
                <a:latin typeface="Times New Roman"/>
              </a:rPr>
              <a:t>: </a:t>
            </a:r>
            <a:r>
              <a:rPr lang="ru-RU" sz="2400" dirty="0">
                <a:latin typeface="Times New Roman"/>
              </a:rPr>
              <a:t>модели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1719BFF-6D67-4FB6-8FF3-CE73D290F1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517" y="4036610"/>
            <a:ext cx="4085630" cy="13438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8306E3-66C6-47FA-8FE7-A05F19D35A19}"/>
              </a:ext>
            </a:extLst>
          </p:cNvPr>
          <p:cNvSpPr txBox="1"/>
          <p:nvPr/>
        </p:nvSpPr>
        <p:spPr>
          <a:xfrm>
            <a:off x="750775" y="5434578"/>
            <a:ext cx="4159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10 – 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Созданные модели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7CFA07A-DCF0-489B-9390-45099DBB60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79414" y="1765788"/>
            <a:ext cx="3626508" cy="36146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2DCBD9-B371-46B5-83C1-59957BEBB31A}"/>
              </a:ext>
            </a:extLst>
          </p:cNvPr>
          <p:cNvSpPr txBox="1"/>
          <p:nvPr/>
        </p:nvSpPr>
        <p:spPr>
          <a:xfrm>
            <a:off x="5669280" y="5434578"/>
            <a:ext cx="5446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11 – 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Фрагмент модели для сущности «Тег»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721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6056" y="39624"/>
            <a:ext cx="868680" cy="98755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1103864" y="5919216"/>
            <a:ext cx="164592" cy="23469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/>
            <a:r>
              <a:rPr lang="ru-RU" sz="2200" b="1" dirty="0">
                <a:latin typeface="Times New Roman"/>
              </a:rPr>
              <a:t>10</a:t>
            </a:r>
            <a:endParaRPr lang="ru" sz="2200" b="1" dirty="0"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B3437C-A858-4055-9EEC-51B37B74304B}"/>
              </a:ext>
            </a:extLst>
          </p:cNvPr>
          <p:cNvSpPr txBox="1"/>
          <p:nvPr/>
        </p:nvSpPr>
        <p:spPr>
          <a:xfrm>
            <a:off x="2227131" y="565511"/>
            <a:ext cx="75216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latin typeface="Times New Roman"/>
              </a:rPr>
              <a:t>Реализация слоя серверной логики</a:t>
            </a:r>
            <a:r>
              <a:rPr lang="en-US" sz="2400" b="1" dirty="0">
                <a:latin typeface="Times New Roman"/>
              </a:rPr>
              <a:t>: </a:t>
            </a:r>
            <a:r>
              <a:rPr lang="ru-RU" sz="2400" dirty="0">
                <a:latin typeface="Times New Roman"/>
              </a:rPr>
              <a:t>маршрутизация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7CFA07A-DCF0-489B-9390-45099DBB60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6325" y="1258764"/>
            <a:ext cx="5446775" cy="44835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2DCBD9-B371-46B5-83C1-59957BEBB31A}"/>
              </a:ext>
            </a:extLst>
          </p:cNvPr>
          <p:cNvSpPr txBox="1"/>
          <p:nvPr/>
        </p:nvSpPr>
        <p:spPr>
          <a:xfrm>
            <a:off x="3176324" y="5846135"/>
            <a:ext cx="5446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1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Фрагмент файла маршрутизации запросов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981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6056" y="39624"/>
            <a:ext cx="868680" cy="98755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1103864" y="5919216"/>
            <a:ext cx="164592" cy="23469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/>
            <a:r>
              <a:rPr lang="ru-RU" sz="2200" b="1" dirty="0">
                <a:latin typeface="Times New Roman"/>
              </a:rPr>
              <a:t>11</a:t>
            </a:r>
            <a:endParaRPr lang="ru" sz="2200" b="1" dirty="0"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B3437C-A858-4055-9EEC-51B37B74304B}"/>
              </a:ext>
            </a:extLst>
          </p:cNvPr>
          <p:cNvSpPr txBox="1"/>
          <p:nvPr/>
        </p:nvSpPr>
        <p:spPr>
          <a:xfrm>
            <a:off x="2498904" y="565511"/>
            <a:ext cx="69781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latin typeface="Times New Roman"/>
              </a:rPr>
              <a:t>Реализация слоя серверной логики</a:t>
            </a:r>
            <a:r>
              <a:rPr lang="en-US" sz="2400" b="1" dirty="0">
                <a:latin typeface="Times New Roman"/>
              </a:rPr>
              <a:t>: </a:t>
            </a:r>
            <a:r>
              <a:rPr lang="ru-RU" sz="2400" dirty="0">
                <a:latin typeface="Times New Roman"/>
              </a:rPr>
              <a:t>контроллеры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1719BFF-6D67-4FB6-8FF3-CE73D290F1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6307" y="4036610"/>
            <a:ext cx="3948049" cy="13438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8306E3-66C6-47FA-8FE7-A05F19D35A19}"/>
              </a:ext>
            </a:extLst>
          </p:cNvPr>
          <p:cNvSpPr txBox="1"/>
          <p:nvPr/>
        </p:nvSpPr>
        <p:spPr>
          <a:xfrm>
            <a:off x="750775" y="5434578"/>
            <a:ext cx="4159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13 – 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Созданные контроллеры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7CFA07A-DCF0-489B-9390-45099DBB60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59319" y="3047029"/>
            <a:ext cx="5621463" cy="23334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2DCBD9-B371-46B5-83C1-59957BEBB31A}"/>
              </a:ext>
            </a:extLst>
          </p:cNvPr>
          <p:cNvSpPr txBox="1"/>
          <p:nvPr/>
        </p:nvSpPr>
        <p:spPr>
          <a:xfrm>
            <a:off x="5546662" y="5434578"/>
            <a:ext cx="5446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14 – 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Фрагмент метода контроллера записей для обновления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676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6056" y="39624"/>
            <a:ext cx="868680" cy="98755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1103864" y="5919216"/>
            <a:ext cx="164592" cy="23469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/>
            <a:r>
              <a:rPr lang="ru-RU" sz="2200" b="1" dirty="0">
                <a:latin typeface="Times New Roman"/>
              </a:rPr>
              <a:t>1</a:t>
            </a:r>
            <a:r>
              <a:rPr lang="en-US" sz="2200" b="1" dirty="0">
                <a:latin typeface="Times New Roman"/>
              </a:rPr>
              <a:t>2</a:t>
            </a:r>
            <a:endParaRPr lang="ru" sz="2200" b="1" dirty="0"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B3437C-A858-4055-9EEC-51B37B74304B}"/>
              </a:ext>
            </a:extLst>
          </p:cNvPr>
          <p:cNvSpPr txBox="1"/>
          <p:nvPr/>
        </p:nvSpPr>
        <p:spPr>
          <a:xfrm>
            <a:off x="3654769" y="565511"/>
            <a:ext cx="4666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latin typeface="Times New Roman"/>
              </a:rPr>
              <a:t>Реализация слоя представления</a:t>
            </a:r>
            <a:endParaRPr lang="ru-RU" sz="2400" dirty="0">
              <a:latin typeface="Times New Roman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1719BFF-6D67-4FB6-8FF3-CE73D290F1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60811" y="1305098"/>
            <a:ext cx="2739043" cy="40753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8306E3-66C6-47FA-8FE7-A05F19D35A19}"/>
              </a:ext>
            </a:extLst>
          </p:cNvPr>
          <p:cNvSpPr txBox="1"/>
          <p:nvPr/>
        </p:nvSpPr>
        <p:spPr>
          <a:xfrm>
            <a:off x="750775" y="5434578"/>
            <a:ext cx="4159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15 – 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Созданные шаблоны </a:t>
            </a:r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Blade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7CFA07A-DCF0-489B-9390-45099DBB60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5149" y="1945178"/>
            <a:ext cx="4296139" cy="34352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2DCBD9-B371-46B5-83C1-59957BEBB31A}"/>
              </a:ext>
            </a:extLst>
          </p:cNvPr>
          <p:cNvSpPr txBox="1"/>
          <p:nvPr/>
        </p:nvSpPr>
        <p:spPr>
          <a:xfrm>
            <a:off x="5489830" y="5434578"/>
            <a:ext cx="5446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16 – 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Созданные файлы стилей и клиентской логики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0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6056" y="39624"/>
            <a:ext cx="868680" cy="98755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1103864" y="5919216"/>
            <a:ext cx="164592" cy="23469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/>
            <a:r>
              <a:rPr lang="ru-RU" sz="2200" b="1" dirty="0">
                <a:latin typeface="Times New Roman"/>
              </a:rPr>
              <a:t>13</a:t>
            </a:r>
            <a:endParaRPr lang="ru" sz="2200" b="1" dirty="0"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B3437C-A858-4055-9EEC-51B37B74304B}"/>
              </a:ext>
            </a:extLst>
          </p:cNvPr>
          <p:cNvSpPr txBox="1"/>
          <p:nvPr/>
        </p:nvSpPr>
        <p:spPr>
          <a:xfrm>
            <a:off x="3725532" y="565511"/>
            <a:ext cx="4524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latin typeface="Times New Roman"/>
              </a:rPr>
              <a:t>Итоговый вид веб-приложения</a:t>
            </a:r>
            <a:endParaRPr lang="ru-RU" sz="2400" dirty="0">
              <a:latin typeface="Times New Roman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1719BFF-6D67-4FB6-8FF3-CE73D290F1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8593" y="2313890"/>
            <a:ext cx="5638258" cy="30665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8306E3-66C6-47FA-8FE7-A05F19D35A19}"/>
              </a:ext>
            </a:extLst>
          </p:cNvPr>
          <p:cNvSpPr txBox="1"/>
          <p:nvPr/>
        </p:nvSpPr>
        <p:spPr>
          <a:xfrm>
            <a:off x="1078165" y="5434578"/>
            <a:ext cx="4159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17 – 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Страница управления расписанием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A58148F-9C1D-40A9-9BAE-49E05C0D9E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5908" y="2313890"/>
            <a:ext cx="5636740" cy="30665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CD9E65-022C-437B-BF06-47CC48054BE5}"/>
              </a:ext>
            </a:extLst>
          </p:cNvPr>
          <p:cNvSpPr txBox="1"/>
          <p:nvPr/>
        </p:nvSpPr>
        <p:spPr>
          <a:xfrm>
            <a:off x="6954721" y="5434578"/>
            <a:ext cx="4159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18 – 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Страница управления тегами 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732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426208" y="2822448"/>
            <a:ext cx="7427976" cy="42367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/>
            <a:r>
              <a:rPr lang="ru" sz="4300" b="1" spc="-50">
                <a:latin typeface="Times New Roman"/>
              </a:rPr>
              <a:t>СПАСИБО ЗА ВНИМАНИЕ!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328</Words>
  <Application>Microsoft Office PowerPoint</Application>
  <PresentationFormat>Широкоэкранный</PresentationFormat>
  <Paragraphs>73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7" baseType="lpstr">
      <vt:lpstr>Arial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Борис Васильев</dc:creator>
  <cp:keywords/>
  <cp:lastModifiedBy>Борис Васильев</cp:lastModifiedBy>
  <cp:revision>17</cp:revision>
  <dcterms:modified xsi:type="dcterms:W3CDTF">2025-12-20T06:38:12Z</dcterms:modified>
</cp:coreProperties>
</file>